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4A669-F776-4D09-BECC-01FD098A6FB3}" v="21" dt="2026-09-28T09:15:14.555"/>
    <p1510:client id="{60B5FDCC-59CE-4270-A0B7-CDC0C70560BB}" v="19" dt="2026-09-28T10:17:07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cose.2026.105094" TargetMode="External"/><Relationship Id="rId13" Type="http://schemas.openxmlformats.org/officeDocument/2006/relationships/hyperlink" Target="https://www.sbert.net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onionservices.torproject.org/research/preamble/research/" TargetMode="External"/><Relationship Id="rId12" Type="http://schemas.openxmlformats.org/officeDocument/2006/relationships/hyperlink" Target="https://spacy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c.torproject.org/intro/" TargetMode="External"/><Relationship Id="rId11" Type="http://schemas.openxmlformats.org/officeDocument/2006/relationships/hyperlink" Target="https://neo4j.com/" TargetMode="External"/><Relationship Id="rId5" Type="http://schemas.openxmlformats.org/officeDocument/2006/relationships/hyperlink" Target="https://support.torproject.org/tor-browser/features/onion-services/" TargetMode="External"/><Relationship Id="rId10" Type="http://schemas.openxmlformats.org/officeDocument/2006/relationships/hyperlink" Target="https://doi.org/10.67050/IJEE/V15I2/IJEE262007" TargetMode="External"/><Relationship Id="rId4" Type="http://schemas.openxmlformats.org/officeDocument/2006/relationships/hyperlink" Target="https://community.torproject.org/onion-services/overview/" TargetMode="External"/><Relationship Id="rId9" Type="http://schemas.openxmlformats.org/officeDocument/2006/relationships/hyperlink" Target="https://link.springer.com/article/10.1007/s42452-020-04127-6" TargetMode="External"/><Relationship Id="rId14" Type="http://schemas.openxmlformats.org/officeDocument/2006/relationships/hyperlink" Target="https://scikit-lear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764714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SIH</a:t>
            </a:r>
            <a:r>
              <a:rPr lang="en-IN" dirty="0"/>
              <a:t>26151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/>
              <a:t>Dark web threat actor de - anonymization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dirty="0"/>
              <a:t>Blockchain &amp; Cybersecurity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153297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Tech mates Pro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458" y="-38832"/>
            <a:ext cx="10972800" cy="1143000"/>
          </a:xfrm>
        </p:spPr>
        <p:txBody>
          <a:bodyPr/>
          <a:lstStyle/>
          <a:p>
            <a:pPr eaLnBrk="1" hangingPunct="1"/>
            <a:r>
              <a:rPr lang="en-US" sz="4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br>
              <a:rPr lang="en-US" sz="16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endParaRPr lang="en-US" sz="1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76509"/>
            <a:ext cx="16366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Mates Pro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13086D-58ED-C8AC-BC87-F03FBB2FE1E8}"/>
              </a:ext>
            </a:extLst>
          </p:cNvPr>
          <p:cNvSpPr/>
          <p:nvPr/>
        </p:nvSpPr>
        <p:spPr>
          <a:xfrm>
            <a:off x="452284" y="1204626"/>
            <a:ext cx="3558242" cy="36840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r>
              <a:rPr lang="en-US" dirty="0"/>
              <a:t>PROPOSED SOLUTION</a:t>
            </a:r>
          </a:p>
          <a:p>
            <a:pPr>
              <a:lnSpc>
                <a:spcPct val="150000"/>
              </a:lnSpc>
              <a:spcAft>
                <a:spcPts val="0"/>
              </a:spcAft>
              <a:defRPr sz="1220">
                <a:solidFill>
                  <a:srgbClr val="1E2328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Dark Web Threat Intelligence &amp; Attribution Platform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Collects authorized, public, controlled or synthetic intelligence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Extracts handles, aliases, PGP keys, wallets, platforms, timestamps and infrastructure indicators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Correlates entities through a Threat Actor Knowledge Graph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investigator search, graph exploration, timelines, evidence review and report export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7B533D-C767-AE6A-E313-2E6339F7FF80}"/>
              </a:ext>
            </a:extLst>
          </p:cNvPr>
          <p:cNvSpPr/>
          <p:nvPr/>
        </p:nvSpPr>
        <p:spPr>
          <a:xfrm>
            <a:off x="4125927" y="1136091"/>
            <a:ext cx="3558242" cy="368401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r>
              <a:rPr lang="en-IN"/>
              <a:t>HOW IT ADDRESSES THE PROBLEM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220">
                <a:solidFill>
                  <a:srgbClr val="1E2328"/>
                </a:solidFill>
                <a:latin typeface="Aptos"/>
              </a:defRP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Fragmented intelligence → unified, searchable intelligence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220">
                <a:solidFill>
                  <a:srgbClr val="1E2328"/>
                </a:solidFill>
                <a:latin typeface="Aptos"/>
              </a:defRP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Multi-platform identities → graph-based relationship discovery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220">
                <a:solidFill>
                  <a:srgbClr val="1E2328"/>
                </a:solidFill>
                <a:latin typeface="Aptos"/>
              </a:defRP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Rebranded personas → AI-assisted linguistic &amp; behavioural comparison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220">
                <a:solidFill>
                  <a:srgbClr val="1E2328"/>
                </a:solidFill>
                <a:latin typeface="Aptos"/>
              </a:defRP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Single clue limitations → multi-evidence correlation + explainable confidence.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220">
                <a:solidFill>
                  <a:srgbClr val="1E2328"/>
                </a:solidFill>
                <a:latin typeface="Aptos"/>
              </a:defRP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Final attribution remains under human investigator review.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EBDC98-FD04-C4BB-FADE-F726EA9FA89A}"/>
              </a:ext>
            </a:extLst>
          </p:cNvPr>
          <p:cNvSpPr/>
          <p:nvPr/>
        </p:nvSpPr>
        <p:spPr>
          <a:xfrm>
            <a:off x="7852200" y="1144500"/>
            <a:ext cx="3628103" cy="362000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r>
              <a:rPr lang="en-IN" dirty="0"/>
              <a:t>INNOVATION &amp; UNIQUENESS</a:t>
            </a:r>
          </a:p>
          <a:p>
            <a:pPr>
              <a:lnSpc>
                <a:spcPct val="150000"/>
              </a:lnSpc>
              <a:spcAft>
                <a:spcPts val="0"/>
              </a:spcAft>
              <a:defRPr sz="1200">
                <a:solidFill>
                  <a:srgbClr val="1E2328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Threat Actor Knowledge Graph linking identities, identifiers, platforms and infrastructure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AI-assisted persona re-identification using linguistic, behavioural and temporal signals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Multi-evidence attribution model with explainable confidence scoring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Unified workflow: collection → correlation → visualization → reporting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7DEA4B-4FF4-665F-C25A-C58CD2FAC85C}"/>
              </a:ext>
            </a:extLst>
          </p:cNvPr>
          <p:cNvSpPr/>
          <p:nvPr/>
        </p:nvSpPr>
        <p:spPr>
          <a:xfrm>
            <a:off x="609600" y="5117432"/>
            <a:ext cx="3400926" cy="10170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INPUT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rgbClr val="182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Authorized / public threat intelligence
Historical records + controlled synthetic data
Posts • aliases • identifiers • timestamps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0F7361-F80A-C3C6-4D92-325E47D3DFCA}"/>
              </a:ext>
            </a:extLst>
          </p:cNvPr>
          <p:cNvSpPr/>
          <p:nvPr/>
        </p:nvSpPr>
        <p:spPr>
          <a:xfrm>
            <a:off x="4204585" y="5117432"/>
            <a:ext cx="3400926" cy="10170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rgbClr val="E67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 ANALYZE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rgbClr val="182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Stylometry + behaviour + time patterns
Vendor catalogue + trust graph
Infrastructure + observable event timing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C4746C-23BE-F368-99B8-FE8019275276}"/>
              </a:ext>
            </a:extLst>
          </p:cNvPr>
          <p:cNvSpPr/>
          <p:nvPr/>
        </p:nvSpPr>
        <p:spPr>
          <a:xfrm>
            <a:off x="7852200" y="5113197"/>
            <a:ext cx="3400926" cy="10170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77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 DECIDE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rgbClr val="182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fusion + contradiction analysis
Explainable confidence + risk
Alert → investigator review →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30214"/>
            <a:ext cx="1715897" cy="72635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Mates Pro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75605A-0A5B-9498-4C0D-176DF03C8955}"/>
              </a:ext>
            </a:extLst>
          </p:cNvPr>
          <p:cNvSpPr txBox="1"/>
          <p:nvPr/>
        </p:nvSpPr>
        <p:spPr>
          <a:xfrm>
            <a:off x="173674" y="2747003"/>
            <a:ext cx="10586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        </a:t>
            </a:r>
          </a:p>
          <a:p>
            <a:r>
              <a:rPr lang="en-IN" sz="1200" dirty="0"/>
              <a:t>    </a:t>
            </a:r>
          </a:p>
          <a:p>
            <a:endParaRPr lang="en-IN" sz="12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C9EABA2-B978-75F0-62A6-EB8A78E516B7}"/>
              </a:ext>
            </a:extLst>
          </p:cNvPr>
          <p:cNvSpPr/>
          <p:nvPr/>
        </p:nvSpPr>
        <p:spPr>
          <a:xfrm>
            <a:off x="529388" y="1311442"/>
            <a:ext cx="3320716" cy="211755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r>
              <a:rPr lang="en-IN" dirty="0"/>
              <a:t>TECHNOLOGIES</a:t>
            </a:r>
          </a:p>
          <a:p>
            <a:pPr>
              <a:lnSpc>
                <a:spcPct val="150000"/>
              </a:lnSpc>
              <a:spcAft>
                <a:spcPts val="0"/>
              </a:spcAft>
              <a:defRPr sz="1320">
                <a:solidFill>
                  <a:srgbClr val="1E2328"/>
                </a:solidFill>
                <a:latin typeface="Aptos"/>
              </a:defRPr>
            </a:pPr>
            <a:r>
              <a:rPr lang="en-IN" dirty="0"/>
              <a:t>Python • </a:t>
            </a:r>
            <a:r>
              <a:rPr lang="en-IN" dirty="0" err="1"/>
              <a:t>FastAPI</a:t>
            </a:r>
            <a:r>
              <a:rPr lang="en-IN" dirty="0"/>
              <a:t> • Neo4j</a:t>
            </a:r>
            <a:br>
              <a:rPr lang="en-IN" dirty="0"/>
            </a:br>
            <a:r>
              <a:rPr lang="en-IN" dirty="0"/>
              <a:t>React.js / </a:t>
            </a:r>
            <a:r>
              <a:rPr lang="en-IN" dirty="0" err="1"/>
              <a:t>Streamlit</a:t>
            </a:r>
            <a:r>
              <a:rPr lang="en-IN" dirty="0"/>
              <a:t> • </a:t>
            </a:r>
            <a:r>
              <a:rPr lang="en-IN" dirty="0" err="1"/>
              <a:t>spaCy</a:t>
            </a:r>
            <a:br>
              <a:rPr lang="en-IN" dirty="0"/>
            </a:br>
            <a:r>
              <a:rPr lang="en-IN" dirty="0"/>
              <a:t>Sentence Transformers • Scikit-learn</a:t>
            </a:r>
            <a:br>
              <a:rPr lang="en-IN" dirty="0"/>
            </a:br>
            <a:r>
              <a:rPr lang="en-IN" dirty="0"/>
              <a:t>Pandas / NumPy • </a:t>
            </a:r>
            <a:r>
              <a:rPr lang="en-IN" dirty="0" err="1"/>
              <a:t>Plotly</a:t>
            </a:r>
            <a:r>
              <a:rPr lang="en-IN" dirty="0"/>
              <a:t> / Cytoscape.js</a:t>
            </a:r>
            <a:br>
              <a:rPr lang="en-IN" dirty="0"/>
            </a:br>
            <a:r>
              <a:rPr lang="en-IN" dirty="0"/>
              <a:t>Docker • Git/GitHub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DFD8DE-FE35-B69C-6778-5842AB4C2B3A}"/>
              </a:ext>
            </a:extLst>
          </p:cNvPr>
          <p:cNvSpPr/>
          <p:nvPr/>
        </p:nvSpPr>
        <p:spPr>
          <a:xfrm>
            <a:off x="465220" y="3573735"/>
            <a:ext cx="3416969" cy="231371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r>
              <a:rPr lang="en-IN" dirty="0"/>
              <a:t>MVP STACK</a:t>
            </a:r>
          </a:p>
          <a:p>
            <a:pPr>
              <a:lnSpc>
                <a:spcPct val="150000"/>
              </a:lnSpc>
              <a:spcAft>
                <a:spcPts val="0"/>
              </a:spcAft>
              <a:defRPr sz="1220">
                <a:solidFill>
                  <a:srgbClr val="1E2328"/>
                </a:solidFill>
                <a:latin typeface="Aptos"/>
              </a:defRPr>
            </a:pPr>
            <a:r>
              <a:rPr lang="en-IN" dirty="0"/>
              <a:t>Python + </a:t>
            </a:r>
            <a:r>
              <a:rPr lang="en-IN" dirty="0" err="1"/>
              <a:t>FastAPI</a:t>
            </a:r>
            <a:r>
              <a:rPr lang="en-IN" dirty="0"/>
              <a:t> + Neo4j + Sentence Transformers + </a:t>
            </a:r>
            <a:r>
              <a:rPr lang="en-IN" dirty="0" err="1"/>
              <a:t>spaCy</a:t>
            </a:r>
            <a:r>
              <a:rPr lang="en-IN" dirty="0"/>
              <a:t> + </a:t>
            </a:r>
            <a:r>
              <a:rPr lang="en-IN" dirty="0" err="1"/>
              <a:t>Streamlit</a:t>
            </a:r>
            <a:r>
              <a:rPr lang="en-IN" dirty="0"/>
              <a:t> + </a:t>
            </a:r>
            <a:r>
              <a:rPr lang="en-IN" dirty="0" err="1"/>
              <a:t>Plotly</a:t>
            </a:r>
            <a:r>
              <a:rPr lang="en-IN" dirty="0"/>
              <a:t> + Docker.</a:t>
            </a:r>
            <a:br>
              <a:rPr lang="en-IN" dirty="0"/>
            </a:br>
            <a:r>
              <a:rPr lang="en-IN" dirty="0"/>
              <a:t>Designed to demonstrate the core innovation without expensive hardware or large-scale infrastructure.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BDC8BBC-55E8-981D-4A6E-0535C94CDB6A}"/>
              </a:ext>
            </a:extLst>
          </p:cNvPr>
          <p:cNvSpPr/>
          <p:nvPr/>
        </p:nvSpPr>
        <p:spPr>
          <a:xfrm>
            <a:off x="4090736" y="1112962"/>
            <a:ext cx="7927589" cy="474295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r>
              <a:rPr lang="en-IN" dirty="0"/>
              <a:t>METHODOLOGY &amp; IMPLEMENTATION FLOW</a:t>
            </a:r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>
              <a:solidFill>
                <a:schemeClr val="tx1"/>
              </a:solidFill>
            </a:endParaRPr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>
              <a:solidFill>
                <a:schemeClr val="tx1"/>
              </a:solidFill>
            </a:endParaRPr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  <a:p>
            <a:pPr algn="ctr">
              <a:spcAft>
                <a:spcPts val="500"/>
              </a:spcAft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460E07-97BF-5554-5B01-F5B5D5DB77B2}"/>
              </a:ext>
            </a:extLst>
          </p:cNvPr>
          <p:cNvSpPr/>
          <p:nvPr/>
        </p:nvSpPr>
        <p:spPr>
          <a:xfrm>
            <a:off x="4256968" y="1669236"/>
            <a:ext cx="1993232" cy="6379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r>
              <a:rPr lang="en-IN" dirty="0"/>
              <a:t>Authorized / controlled / synthetic data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16BA5B-3380-871A-42E0-ABC3D1A65631}"/>
              </a:ext>
            </a:extLst>
          </p:cNvPr>
          <p:cNvCxnSpPr/>
          <p:nvPr/>
        </p:nvCxnSpPr>
        <p:spPr>
          <a:xfrm>
            <a:off x="5101389" y="2390273"/>
            <a:ext cx="0" cy="240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92A39C-0127-AF0F-0619-6C929FD4EFE2}"/>
              </a:ext>
            </a:extLst>
          </p:cNvPr>
          <p:cNvSpPr/>
          <p:nvPr/>
        </p:nvSpPr>
        <p:spPr>
          <a:xfrm>
            <a:off x="4205818" y="2648716"/>
            <a:ext cx="1993232" cy="6379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r>
              <a:rPr lang="en-IN" dirty="0"/>
              <a:t>Clean, normalize &amp; extract entities</a:t>
            </a:r>
          </a:p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49AFF3-2497-67AE-D4EC-D3172D26AC68}"/>
              </a:ext>
            </a:extLst>
          </p:cNvPr>
          <p:cNvCxnSpPr>
            <a:cxnSpLocks/>
          </p:cNvCxnSpPr>
          <p:nvPr/>
        </p:nvCxnSpPr>
        <p:spPr>
          <a:xfrm>
            <a:off x="5101389" y="3286684"/>
            <a:ext cx="0" cy="386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A611E5-3624-DA6C-08F7-20C619F598B1}"/>
              </a:ext>
            </a:extLst>
          </p:cNvPr>
          <p:cNvSpPr/>
          <p:nvPr/>
        </p:nvSpPr>
        <p:spPr>
          <a:xfrm>
            <a:off x="4160557" y="3692080"/>
            <a:ext cx="1993232" cy="6379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r>
              <a:rPr lang="en-US" dirty="0"/>
              <a:t>Build Neo4j Threat Actor Knowledge Graph</a:t>
            </a:r>
          </a:p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6CF869-C93E-DD8F-C371-2AB314E806B6}"/>
              </a:ext>
            </a:extLst>
          </p:cNvPr>
          <p:cNvCxnSpPr/>
          <p:nvPr/>
        </p:nvCxnSpPr>
        <p:spPr>
          <a:xfrm>
            <a:off x="6657474" y="5147879"/>
            <a:ext cx="368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01BBF69-DC96-E528-1417-DA3F0E828DCC}"/>
              </a:ext>
            </a:extLst>
          </p:cNvPr>
          <p:cNvCxnSpPr>
            <a:cxnSpLocks/>
          </p:cNvCxnSpPr>
          <p:nvPr/>
        </p:nvCxnSpPr>
        <p:spPr>
          <a:xfrm>
            <a:off x="5101389" y="4442039"/>
            <a:ext cx="0" cy="386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81EE0EC-7085-91FC-CF9B-D4415148DEDC}"/>
              </a:ext>
            </a:extLst>
          </p:cNvPr>
          <p:cNvSpPr/>
          <p:nvPr/>
        </p:nvSpPr>
        <p:spPr>
          <a:xfrm>
            <a:off x="4295273" y="4828895"/>
            <a:ext cx="1993232" cy="6379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r>
              <a:rPr lang="en-IN" dirty="0"/>
              <a:t>AI/NLP persona + behavioural analysis</a:t>
            </a:r>
          </a:p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94CE478-84A3-8475-6918-28F548394BAD}"/>
              </a:ext>
            </a:extLst>
          </p:cNvPr>
          <p:cNvSpPr/>
          <p:nvPr/>
        </p:nvSpPr>
        <p:spPr>
          <a:xfrm>
            <a:off x="7395412" y="4635362"/>
            <a:ext cx="2384674" cy="9749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r>
              <a:rPr lang="en-IN" dirty="0"/>
              <a:t>Multi-evidence correlation → confidence score</a:t>
            </a:r>
          </a:p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endParaRPr lang="en-IN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4D97D67-F1A6-D946-3EC9-565978C999C3}"/>
              </a:ext>
            </a:extLst>
          </p:cNvPr>
          <p:cNvCxnSpPr>
            <a:cxnSpLocks/>
          </p:cNvCxnSpPr>
          <p:nvPr/>
        </p:nvCxnSpPr>
        <p:spPr>
          <a:xfrm flipV="1">
            <a:off x="8566110" y="3880351"/>
            <a:ext cx="0" cy="677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A4F7D9C-18B6-4955-E068-42BBF3CB42C2}"/>
              </a:ext>
            </a:extLst>
          </p:cNvPr>
          <p:cNvSpPr/>
          <p:nvPr/>
        </p:nvSpPr>
        <p:spPr>
          <a:xfrm>
            <a:off x="7395412" y="3031614"/>
            <a:ext cx="2384674" cy="7176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r>
              <a:rPr lang="en-US" dirty="0"/>
              <a:t>Investigator dashboard → graph + timeline + evidence</a:t>
            </a:r>
          </a:p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74891A-DD0D-C07C-FEF7-CFD42F98C5C9}"/>
              </a:ext>
            </a:extLst>
          </p:cNvPr>
          <p:cNvCxnSpPr>
            <a:cxnSpLocks/>
          </p:cNvCxnSpPr>
          <p:nvPr/>
        </p:nvCxnSpPr>
        <p:spPr>
          <a:xfrm flipV="1">
            <a:off x="8557715" y="2558412"/>
            <a:ext cx="0" cy="409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08E6916-86CE-549F-3F09-677DCFAA7417}"/>
              </a:ext>
            </a:extLst>
          </p:cNvPr>
          <p:cNvSpPr/>
          <p:nvPr/>
        </p:nvSpPr>
        <p:spPr>
          <a:xfrm>
            <a:off x="7561101" y="1860919"/>
            <a:ext cx="1993228" cy="5904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endParaRPr lang="en-IN" dirty="0"/>
          </a:p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r>
              <a:rPr lang="en-IN" dirty="0"/>
              <a:t>CSV / JSON / PDF investigation report</a:t>
            </a:r>
          </a:p>
          <a:p>
            <a:pPr>
              <a:defRPr sz="1300" b="0">
                <a:solidFill>
                  <a:srgbClr val="1E2328"/>
                </a:solidFill>
                <a:latin typeface="Aptos"/>
              </a:defRPr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8"/>
            <a:ext cx="17453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Mates Pro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49F39E-4CD0-8436-A44B-8EFD63CB4BAE}"/>
              </a:ext>
            </a:extLst>
          </p:cNvPr>
          <p:cNvSpPr/>
          <p:nvPr/>
        </p:nvSpPr>
        <p:spPr>
          <a:xfrm>
            <a:off x="104344" y="1498835"/>
            <a:ext cx="3897385" cy="44791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Feasibility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Technically feasible with mature open-source AI, NLP and graph technologies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• Prototype can run on standard computing resources (8–16 GB RAM)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• Controlled/synthetic datasets enable safe demonstration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• Functional proof-of-concept does not require breaking Tor anonymity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• Architecture can scale toward broader threat-intelligence applications</a:t>
            </a:r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607936-DD20-9E7B-D2C9-227E3B508957}"/>
              </a:ext>
            </a:extLst>
          </p:cNvPr>
          <p:cNvSpPr/>
          <p:nvPr/>
        </p:nvSpPr>
        <p:spPr>
          <a:xfrm>
            <a:off x="4190534" y="1498835"/>
            <a:ext cx="3810930" cy="44791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Potential Challenges &amp; Risks</a:t>
            </a:r>
          </a:p>
          <a:p>
            <a:endParaRPr lang="en-GB" b="1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&amp; availability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/ false negatives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identity changes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Attribution uncertainty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scalability &amp; AI limitations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Legal, privacy &amp; security risks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/ provenance issues</a:t>
            </a:r>
          </a:p>
          <a:p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7248DF-64A9-ECFD-F08B-19A092A1A222}"/>
              </a:ext>
            </a:extLst>
          </p:cNvPr>
          <p:cNvSpPr/>
          <p:nvPr/>
        </p:nvSpPr>
        <p:spPr>
          <a:xfrm>
            <a:off x="8089435" y="1440586"/>
            <a:ext cx="3810930" cy="45200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Mitigation Strategies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Multi-source + controlled data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Multi-evidence correlation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Historical + behavioural analysis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Explainable confidence + human verification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Neo4j indexing + filtering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Model validation + confidence thresholds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Authorization, access control, encryption, audit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87680" y="1359451"/>
            <a:ext cx="950722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600" dirty="0"/>
              <a:t>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7153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Mates Pro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12A23D-BA82-0917-302E-37290FDDE871}"/>
              </a:ext>
            </a:extLst>
          </p:cNvPr>
          <p:cNvSpPr/>
          <p:nvPr/>
        </p:nvSpPr>
        <p:spPr>
          <a:xfrm>
            <a:off x="329773" y="1231897"/>
            <a:ext cx="10274710" cy="236670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Potential Impact</a:t>
            </a:r>
            <a:endParaRPr lang="en-GB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Investigators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faster evidence correlation &amp; investigation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Enforcement Teams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organized intelligence &amp; confidence-based leads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Intelligence Analysts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 automated relationship discovery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Researchers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platform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persona and graph research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/ Security Operations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improved threat awareness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hands-on AI + cybersecurity learning</a:t>
            </a:r>
          </a:p>
          <a:p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48BB09-442A-5EA1-0248-A40AB9EC84AD}"/>
              </a:ext>
            </a:extLst>
          </p:cNvPr>
          <p:cNvSpPr/>
          <p:nvPr/>
        </p:nvSpPr>
        <p:spPr>
          <a:xfrm>
            <a:off x="329774" y="3700871"/>
            <a:ext cx="10274710" cy="251736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Benefits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 It supports safer digital ecosystems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 It reduces investigation time &amp; operational effort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 It improves threat-actor relationship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It combines AI, NLP, knowledge graphs &amp; visualization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It connects theory with practical cybersecurity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It digital-first workflow; low physical infrastructure requirement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9644" y="120208"/>
            <a:ext cx="16189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Mates Pro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F9CB6A-2C7C-008C-AE0F-FBDF30AF1CE0}"/>
              </a:ext>
            </a:extLst>
          </p:cNvPr>
          <p:cNvSpPr/>
          <p:nvPr/>
        </p:nvSpPr>
        <p:spPr>
          <a:xfrm>
            <a:off x="433137" y="1144500"/>
            <a:ext cx="5454316" cy="504880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87D"/>
                </a:solidFill>
                <a:latin typeface="Aptos Display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RESEARCH FOUNDATION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1. Tor Project — Understanding and Using Onion Services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2. Tor Project — How do Onion Services work?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3. Tor Specifications — A Short Introduction to Tor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4. The Onion Services Ecosystem — Research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5. Trident — APT attribution over heterogeneous threat knowledge graphs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6. Forensic electronic mail author attribution — Apoorva &amp; Sangeetha (2021)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B5EFBB-7303-FB17-9231-BD2863FAA860}"/>
              </a:ext>
            </a:extLst>
          </p:cNvPr>
          <p:cNvSpPr/>
          <p:nvPr/>
        </p:nvSpPr>
        <p:spPr>
          <a:xfrm>
            <a:off x="6304547" y="1144500"/>
            <a:ext cx="5454316" cy="504880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87D"/>
                </a:solidFill>
                <a:latin typeface="Aptos Display"/>
              </a:defRPr>
            </a:pPr>
            <a:r>
              <a:rPr lang="en-US" sz="1400" dirty="0"/>
              <a:t>RESEARCH + TECHNOLOGY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ptos"/>
                <a:hlinkClick r:id="rId10"/>
              </a:rPr>
              <a:t>7. Quantitative Stylometry in Digital Communications (2026)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ptos"/>
                <a:hlinkClick r:id="rId11"/>
              </a:rPr>
              <a:t>Technology — Neo4j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ptos"/>
                <a:hlinkClick r:id="rId12"/>
              </a:rPr>
              <a:t>Technology — </a:t>
            </a:r>
            <a:r>
              <a:rPr lang="en-US" sz="1400" u="sng" dirty="0" err="1">
                <a:solidFill>
                  <a:srgbClr val="2F6FB2"/>
                </a:solidFill>
                <a:latin typeface="Aptos"/>
                <a:hlinkClick r:id="rId12"/>
              </a:rPr>
              <a:t>spaCy</a:t>
            </a:r>
            <a:endParaRPr lang="en-US" sz="1400" u="sng" dirty="0">
              <a:solidFill>
                <a:srgbClr val="2F6FB2"/>
              </a:solidFill>
              <a:latin typeface="Aptos"/>
              <a:hlinkClick r:id="rId12"/>
            </a:endParaR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ptos"/>
                <a:hlinkClick r:id="rId13"/>
              </a:rPr>
              <a:t>Technology — Sentence Transformers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400" u="sng" dirty="0">
                <a:solidFill>
                  <a:srgbClr val="2F6FB2"/>
                </a:solidFill>
                <a:latin typeface="Aptos"/>
                <a:hlinkClick r:id="rId14"/>
              </a:rPr>
              <a:t>Technology — Scikit-learn</a:t>
            </a:r>
          </a:p>
          <a:p>
            <a:pPr algn="ctr">
              <a:defRPr sz="1600" b="1">
                <a:solidFill>
                  <a:srgbClr val="1F487D"/>
                </a:solidFill>
                <a:latin typeface="Aptos Display"/>
              </a:defRPr>
            </a:pPr>
            <a:endParaRPr lang="en-US" sz="1400" u="sng" dirty="0">
              <a:solidFill>
                <a:srgbClr val="2F6FB2"/>
              </a:solidFill>
              <a:latin typeface="Arial" panose="020B0604020202020204" pitchFamily="34" charset="0"/>
              <a:cs typeface="Arial" panose="020B0604020202020204" pitchFamily="34" charset="0"/>
              <a:hlinkClick r:id="rId9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7715</TotalTime>
  <Words>797</Words>
  <Application>Microsoft Office PowerPoint</Application>
  <PresentationFormat>Widescreen</PresentationFormat>
  <Paragraphs>103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Proposed Solution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siva sree</cp:lastModifiedBy>
  <cp:revision>154</cp:revision>
  <dcterms:created xsi:type="dcterms:W3CDTF">2013-12-12T18:46:50Z</dcterms:created>
  <dcterms:modified xsi:type="dcterms:W3CDTF">2026-09-28T10:18:00Z</dcterms:modified>
  <cp:category/>
</cp:coreProperties>
</file>